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League Spartan"/>
      <p:regular r:id="rId17"/>
      <p:bold r:id="rId18"/>
    </p:embeddedFont>
    <p:embeddedFont>
      <p:font typeface="Montserrat"/>
      <p:bold r:id="rId19"/>
      <p:boldItalic r:id="rId20"/>
    </p:embeddedFon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37B2F5-ED62-4083-924D-610850DA1F88}">
  <a:tblStyle styleId="{0B37B2F5-ED62-4083-924D-610850DA1F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font" Target="fonts/LeagueSpartan-regular.fntdata"/><Relationship Id="rId18" Type="http://schemas.openxmlformats.org/officeDocument/2006/relationships/font" Target="fonts/LeagueSpartan-bold.fntdata"/><Relationship Id="rId19" Type="http://schemas.openxmlformats.org/officeDocument/2006/relationships/font" Target="fonts/Montserrat-bold.fntdata"/><Relationship Id="rId20" Type="http://schemas.openxmlformats.org/officeDocument/2006/relationships/font" Target="fonts/Montserrat-boldItalic.fntdata"/><Relationship Id="rId21" Type="http://schemas.openxmlformats.org/officeDocument/2006/relationships/font" Target="fonts/Inter-regular.fntdata"/><Relationship Id="rId22" Type="http://schemas.openxmlformats.org/officeDocument/2006/relationships/font" Target="fonts/Inter-bold.fntdata"/><Relationship Id="rId23" Type="http://schemas.openxmlformats.org/officeDocument/2006/relationships/font" Target="fonts/Inter-italic.fntdata"/><Relationship Id="rId24" Type="http://schemas.openxmlformats.org/officeDocument/2006/relationships/font" Target="fonts/Int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c74eaec1a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c74eaec1a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c74eaec1a_2_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c74eaec1a_2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c74eaec1a_2_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c74eaec1a_2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c74eaec1a_2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c74eaec1a_2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c74eaec1a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c74eaec1a_2_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c74eaec1a_2_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c74eaec1a_2_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c74eaec1a_2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c74eaec1a_2_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c74eaec1a_2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c74eaec1a_2_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c74eaec1a_2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c74eaec1a_2_1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c74eaec1a_2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document/d/10nLIXbV4qr4Tr7djq0Sq4sQF4obU1xOH/edit?usp=sharing&amp;ouid=111903907800780271433&amp;rtpof=true&amp;sd=true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189202" y="1661668"/>
            <a:ext cx="4615874" cy="2467663"/>
          </a:xfrm>
          <a:custGeom>
            <a:rect b="b" l="l" r="r" t="t"/>
            <a:pathLst>
              <a:path extrusionOk="0" h="4935326" w="9231747">
                <a:moveTo>
                  <a:pt x="0" y="0"/>
                </a:moveTo>
                <a:lnTo>
                  <a:pt x="9231746" y="0"/>
                </a:lnTo>
                <a:lnTo>
                  <a:pt x="9231746" y="4935326"/>
                </a:lnTo>
                <a:lnTo>
                  <a:pt x="0" y="4935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4326" l="0" r="0" t="-42726"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2565082" y="696239"/>
            <a:ext cx="4013837" cy="815401"/>
          </a:xfrm>
          <a:custGeom>
            <a:rect b="b" l="l" r="r" t="t"/>
            <a:pathLst>
              <a:path extrusionOk="0" h="1630802" w="8027673">
                <a:moveTo>
                  <a:pt x="0" y="0"/>
                </a:moveTo>
                <a:lnTo>
                  <a:pt x="8027672" y="0"/>
                </a:lnTo>
                <a:lnTo>
                  <a:pt x="8027672" y="1630802"/>
                </a:lnTo>
                <a:lnTo>
                  <a:pt x="0" y="1630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684" l="0" r="0" t="-9684"/>
            </a:stretch>
          </a:blipFill>
          <a:ln>
            <a:noFill/>
          </a:ln>
        </p:spPr>
      </p:sp>
      <p:sp>
        <p:nvSpPr>
          <p:cNvPr id="131" name="Google Shape;131;p25"/>
          <p:cNvSpPr/>
          <p:nvPr/>
        </p:nvSpPr>
        <p:spPr>
          <a:xfrm>
            <a:off x="3719667" y="4262355"/>
            <a:ext cx="1704667" cy="557295"/>
          </a:xfrm>
          <a:custGeom>
            <a:rect b="b" l="l" r="r" t="t"/>
            <a:pathLst>
              <a:path extrusionOk="0" h="1114590" w="3409334">
                <a:moveTo>
                  <a:pt x="0" y="0"/>
                </a:moveTo>
                <a:lnTo>
                  <a:pt x="3409334" y="0"/>
                </a:lnTo>
                <a:lnTo>
                  <a:pt x="3409334" y="1114589"/>
                </a:lnTo>
                <a:lnTo>
                  <a:pt x="0" y="1114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25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25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  <p:sp>
        <p:nvSpPr>
          <p:cNvPr id="134" name="Google Shape;134;p25"/>
          <p:cNvSpPr txBox="1"/>
          <p:nvPr/>
        </p:nvSpPr>
        <p:spPr>
          <a:xfrm>
            <a:off x="1652196" y="495300"/>
            <a:ext cx="6011689" cy="14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(An Initiative of Government of India, Ministry of Finance , Department of Financial Services)</a:t>
            </a:r>
            <a:endParaRPr sz="700"/>
          </a:p>
        </p:txBody>
      </p:sp>
      <p:sp>
        <p:nvSpPr>
          <p:cNvPr id="135" name="Google Shape;135;p25"/>
          <p:cNvSpPr txBox="1"/>
          <p:nvPr/>
        </p:nvSpPr>
        <p:spPr>
          <a:xfrm>
            <a:off x="1029462" y="169699"/>
            <a:ext cx="7257157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E92A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PSBs Hackathon Series 2026</a:t>
            </a:r>
            <a:endParaRPr sz="700"/>
          </a:p>
        </p:txBody>
      </p:sp>
      <p:sp>
        <p:nvSpPr>
          <p:cNvPr id="136" name="Google Shape;136;p25"/>
          <p:cNvSpPr txBox="1"/>
          <p:nvPr/>
        </p:nvSpPr>
        <p:spPr>
          <a:xfrm>
            <a:off x="3856453" y="1447337"/>
            <a:ext cx="1431095" cy="21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PRESENTS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6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142" name="Google Shape;142;p26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3" name="Google Shape;143;p26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26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</p:sp>
      <p:sp>
        <p:nvSpPr>
          <p:cNvPr descr="A red blue and white logo  Description automatically generated" id="145" name="Google Shape;145;p26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" l="0" r="0" t="0"/>
            </a:stretch>
          </a:blipFill>
          <a:ln>
            <a:noFill/>
          </a:ln>
        </p:spPr>
      </p:sp>
      <p:sp>
        <p:nvSpPr>
          <p:cNvPr id="146" name="Google Shape;146;p26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26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26"/>
          <p:cNvSpPr txBox="1"/>
          <p:nvPr/>
        </p:nvSpPr>
        <p:spPr>
          <a:xfrm>
            <a:off x="663280" y="987034"/>
            <a:ext cx="781743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TEAM DETAILS</a:t>
            </a:r>
            <a:endParaRPr sz="700"/>
          </a:p>
        </p:txBody>
      </p:sp>
      <p:sp>
        <p:nvSpPr>
          <p:cNvPr id="149" name="Google Shape;149;p26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  <p:graphicFrame>
        <p:nvGraphicFramePr>
          <p:cNvPr id="150" name="Google Shape;150;p26"/>
          <p:cNvGraphicFramePr/>
          <p:nvPr/>
        </p:nvGraphicFramePr>
        <p:xfrm>
          <a:off x="313092" y="1619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{0B37B2F5-ED62-4083-924D-610850DA1F88}</a:tableStyleId>
              </a:tblPr>
              <a:tblGrid>
                <a:gridCol w="1249000"/>
                <a:gridCol w="3009900"/>
                <a:gridCol w="1333500"/>
                <a:gridCol w="2925400"/>
              </a:tblGrid>
              <a:tr h="5277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TEAM NAME</a:t>
                      </a:r>
                      <a:endParaRPr sz="7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(AS SUBMITTED ON PORTAL)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 u="none" cap="none" strike="noStrike">
                          <a:solidFill>
                            <a:schemeClr val="dk1"/>
                          </a:solidFill>
                        </a:rPr>
                        <a:t>Insiders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00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/>
                        <a:t>PROBLEM STATEMENT TITLE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7C59"/>
                        </a:buClr>
                        <a:buSzPts val="1400"/>
                        <a:buFont typeface="Calibri"/>
                        <a:buNone/>
                      </a:pPr>
                      <a:r>
                        <a:rPr b="1" i="1" lang="en" sz="1400" u="none" cap="none" strike="noStrike">
                          <a:solidFill>
                            <a:srgbClr val="0A7C5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“Zombie”</a:t>
                      </a:r>
                      <a:r>
                        <a:rPr i="1" lang="en" sz="14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(Stale/Defunct) API Discovery and Defence for Cyber Security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0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</a:rPr>
                        <a:t>NAME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</a:rPr>
                        <a:t>GENDER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</a:rPr>
                        <a:t>AREA OF EXPERTISE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Member 1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Pramit Sasmal</a:t>
                      </a:r>
                      <a:endParaRPr sz="1200" u="none" cap="none" strike="noStrike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Male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Security Researcher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Member 2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Soham Mukherjee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Male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ML Engineer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Member 3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Ashutosh Kumar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Male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Backend Developer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Member 4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Pratyush Sharma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Male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Frontend Developer</a:t>
                      </a:r>
                      <a:endParaRPr sz="700"/>
                    </a:p>
                  </a:txBody>
                  <a:tcPr marT="22875" marB="2287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7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156" name="Google Shape;156;p27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7" name="Google Shape;157;p27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7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A red blue and white logo  Description automatically generated" id="159" name="Google Shape;159;p27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0" name="Google Shape;160;p27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1" name="Google Shape;161;p27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2" name="Google Shape;162;p27"/>
          <p:cNvSpPr txBox="1"/>
          <p:nvPr/>
        </p:nvSpPr>
        <p:spPr>
          <a:xfrm>
            <a:off x="49075" y="1175000"/>
            <a:ext cx="42030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is a Zombie API?</a:t>
            </a:r>
            <a:endParaRPr sz="700"/>
          </a:p>
          <a:p>
            <a:r>
              <a:t>Stale, unmaintained, or legacy endpoints that remain active in production, providing attackers with unmonitored backdoors.</a:t>
            </a:r>
          </a:p>
          <a:p/>
          <a:p>
            <a:r>
              <a:t>Step-by-Step Production Action Flow:</a:t>
            </a:r>
          </a:p>
          <a:p>
            <a:r>
              <a:t>1. Continuous Discovery: Scrapes frontends and code repositories using BeautifulSoup; probes Spring Boot routes (/v2/api-docs, /v3/api-docs) to map schemas automatically.</a:t>
            </a:r>
          </a:p>
          <a:p>
            <a:r>
              <a:t>2. Multi-Tier AI/ML Detection: Evaluates a 7-dimensional behavioral matrix (staleness, call rate, authentication presence, response time) via unsupervised Isolation Forest &amp; LSTM time-series engines.</a:t>
            </a:r>
          </a:p>
          <a:p>
            <a:r>
              <a:t>3. NumPy Matrix Scoring: Computes a real-time 0–100 CVSS-aligned Threat Score dynamically using vectorized mathematical formulas.</a:t>
            </a:r>
          </a:p>
          <a:p>
            <a:r>
              <a:t>4. Under 3-Second Active Defense: Blocks malicious routes instantly via FastAPI middleware interceptors, rotates API keys via Pydantic validator schemas, and logs PCI-DSS audit trails.</a:t>
            </a:r>
          </a:p>
          <a:p/>
          <a:p>
            <a:r>
              <a:t>Key Innovations: Unsupervised ML (no labeling needed) | Multi-Factor NumPy scoring | Self-healing autonomous gateways</a:t>
            </a:r>
          </a:p>
          <a:p/>
          <a:p>
            <a:r>
              <a:t>Live Sandbox Simulation: Endpoint /payment/legacy_test (Risk: 87/100) was discovered, analyzed, blocked, and credentials rotated in 2.84 seconds!</a:t>
            </a:r>
          </a:p>
        </p:txBody>
      </p:sp>
      <p:sp>
        <p:nvSpPr>
          <p:cNvPr id="163" name="Google Shape;163;p27"/>
          <p:cNvSpPr txBox="1"/>
          <p:nvPr/>
        </p:nvSpPr>
        <p:spPr>
          <a:xfrm>
            <a:off x="514350" y="875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🧟 ZOMBIE API DISCOVERY &amp; DEFENCE SYSTEM</a:t>
            </a:r>
            <a:endParaRPr sz="700"/>
          </a:p>
        </p:txBody>
      </p:sp>
      <p:sp>
        <p:nvSpPr>
          <p:cNvPr id="164" name="Google Shape;164;p27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  <p:pic>
        <p:nvPicPr>
          <p:cNvPr id="165" name="Google Shape;165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1960" y="1325880"/>
            <a:ext cx="448056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8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171" name="Google Shape;171;p28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2" name="Google Shape;172;p28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28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A red blue and white logo  Description automatically generated" id="174" name="Google Shape;174;p28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75" name="Google Shape;175;p28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76" name="Google Shape;176;p28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77" name="Google Shape;177;p28"/>
          <p:cNvSpPr txBox="1"/>
          <p:nvPr/>
        </p:nvSpPr>
        <p:spPr>
          <a:xfrm>
            <a:off x="432010" y="987034"/>
            <a:ext cx="827998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OUTLINE OF UNIQUE &amp; INNOVATIVE SOLUTION</a:t>
            </a:r>
            <a:endParaRPr sz="700"/>
          </a:p>
        </p:txBody>
      </p:sp>
      <p:sp>
        <p:nvSpPr>
          <p:cNvPr id="178" name="Google Shape;178;p28"/>
          <p:cNvSpPr txBox="1"/>
          <p:nvPr/>
        </p:nvSpPr>
        <p:spPr>
          <a:xfrm>
            <a:off x="200750" y="1396600"/>
            <a:ext cx="4254600" cy="3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Makes ZombieGuard Unique</a:t>
            </a:r>
            <a:endParaRPr sz="700"/>
          </a:p>
          <a:p>
            <a:r>
              <a:t>• Shadow API Discovery: Surfaces endpoints invisible to gateways and registries via BeautifulSoup scraping and automatic framework specification crawling.</a:t>
            </a:r>
          </a:p>
          <a:p>
            <a:r>
              <a:t>• Unsupervised AI Fusion: Integrates Isolation Forest anomaly detection with OWASP API Top 10 indicators—no manually-labeled training data required.</a:t>
            </a:r>
          </a:p>
          <a:p>
            <a:r>
              <a:t>• Kafka Event Ingestion: Highly scalable data pipeline handling 10,000,000+ transaction logs with zero gateway latency.</a:t>
            </a:r>
          </a:p>
          <a:p>
            <a:r>
              <a:t>• Under 3-Second Active Mitigation: The only solution that dynamically blocks rogue routes on-the-fly via FastAPI middleware interceptors without manual intervention.</a:t>
            </a:r>
          </a:p>
          <a:p/>
          <a:p>
            <a:r>
              <a:t>Premium SecOps Dashboard Highlights</a:t>
            </a:r>
          </a:p>
          <a:p>
            <a:r>
              <a:t>• Risk Score Panels: Dynamic HSL-accented gauges with color-coded severity metrics (0-100).</a:t>
            </a:r>
          </a:p>
          <a:p>
            <a:r>
              <a:t>• Network Topology Grid: Renders open port mappings (22 SSH, 80/443 Web, 8080 Spring Boot) and live service banners.</a:t>
            </a:r>
          </a:p>
          <a:p>
            <a:r>
              <a:t>• Remediation Terminal: Embedded terminal emulator showing live Masscan logs and automatic mitigation triggers.</a:t>
            </a:r>
          </a:p>
        </p:txBody>
      </p:sp>
      <p:pic>
        <p:nvPicPr>
          <p:cNvPr id="179" name="Google Shape;17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0035" y="1486330"/>
            <a:ext cx="4480559" cy="237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/>
        </p:nvSpPr>
        <p:spPr>
          <a:xfrm>
            <a:off x="68150" y="1340150"/>
            <a:ext cx="4558200" cy="3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Production Technology Stack</a:t>
            </a:r>
            <a:endParaRPr sz="700"/>
          </a:p>
          <a:p>
            <a:r>
              <a:t>• Core API Engine: FastAPI 0.115.0 &amp; Uvicorn ASGI Server (lightning-fast, production-ready)</a:t>
            </a:r>
          </a:p>
          <a:p>
            <a:r>
              <a:t>• Discovery Scrapers: BeautifulSoup4 &amp; Framework Prober (crawls specs, Spring Boot /v3/api-docs)</a:t>
            </a:r>
          </a:p>
          <a:p>
            <a:r>
              <a:t>• Intelligence Core: Scikit-learn (Isolation Forest Anomaly engine) &amp; NumPy Vectorized Scoring Matrices</a:t>
            </a:r>
          </a:p>
          <a:p>
            <a:r>
              <a:t>• Relational Persistence: SQLAlchemy ORM &amp; SQLite Database (normalized tables, composite unique constraints)</a:t>
            </a:r>
          </a:p>
          <a:p>
            <a:r>
              <a:t>• Infra Packaging: Fully containerized in a production-ready single Docker monolith</a:t>
            </a:r>
          </a:p>
          <a:p>
            <a:r>
              <a:t>• Event Bus: High-throughput simulated Apache Kafka event streaming</a:t>
            </a:r>
          </a:p>
          <a:p/>
          <a:p>
            <a:r>
              <a:t>End-to-End Core Data Pipeline (Input → Process → Output)</a:t>
            </a:r>
          </a:p>
          <a:p>
            <a:r>
              <a:t>• Input: BeautifulSoup Web Spec Scraping + Active Port Telemetry + Gateway Logs</a:t>
            </a:r>
          </a:p>
          <a:p>
            <a:r>
              <a:t>• Process: Stream Event Bus -&gt; Isolation Forest Anomaly Detection -&gt; NumPy Threat Scorer</a:t>
            </a:r>
          </a:p>
          <a:p>
            <a:r>
              <a:t>• Output: Dark-Mode Dashboard Telemetry -&gt; Active Middleware Route Block -&gt; PCI-DSS Audit Trail</a:t>
            </a:r>
          </a:p>
        </p:txBody>
      </p:sp>
      <p:grpSp>
        <p:nvGrpSpPr>
          <p:cNvPr id="186" name="Google Shape;186;p29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187" name="Google Shape;187;p29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8" name="Google Shape;188;p29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9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</p:sp>
      <p:sp>
        <p:nvSpPr>
          <p:cNvPr descr="A red blue and white logo  Description automatically generated" id="190" name="Google Shape;190;p29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" l="0" r="0" t="0"/>
            </a:stretch>
          </a:blipFill>
          <a:ln>
            <a:noFill/>
          </a:ln>
        </p:spPr>
      </p:sp>
      <p:sp>
        <p:nvSpPr>
          <p:cNvPr id="191" name="Google Shape;191;p29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29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29"/>
          <p:cNvSpPr txBox="1"/>
          <p:nvPr/>
        </p:nvSpPr>
        <p:spPr>
          <a:xfrm>
            <a:off x="2292901" y="987034"/>
            <a:ext cx="455819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TECHNICAL APPROACH</a:t>
            </a:r>
            <a:endParaRPr sz="700"/>
          </a:p>
        </p:txBody>
      </p:sp>
      <p:sp>
        <p:nvSpPr>
          <p:cNvPr id="194" name="Google Shape;194;p29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  <p:pic>
        <p:nvPicPr>
          <p:cNvPr id="195" name="Google Shape;195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125" y="1576675"/>
            <a:ext cx="4332276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>
            <a:off x="514350" y="1572383"/>
            <a:ext cx="4023360" cy="273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Feasibility — Why It Works Today</a:t>
            </a:r>
            <a:endParaRPr sz="700"/>
          </a:p>
          <a:p>
            <a:r>
              <a:t>• Zero Gateway Latency: Passive log collector pipeline adds 0 milliseconds of overhead to bank transactions.</a:t>
            </a:r>
          </a:p>
          <a:p>
            <a:r>
              <a:t>• 10-Minute Monolith Deploy: Single containerized Docker deployment packages the full stack cleanly.</a:t>
            </a:r>
          </a:p>
          <a:p>
            <a:r>
              <a:t>• Low TCO: Fully powered by open-source, production-ready Scikit-learn &amp; NumPy engines.</a:t>
            </a:r>
          </a:p>
          <a:p>
            <a:r>
              <a:t>• Hardened Thread Safety: Relational database is protected by composite unique constraints to prevent write race conditions.</a:t>
            </a:r>
          </a:p>
          <a:p/>
          <a:p>
            <a:r>
              <a:t>Challenges &amp; Engineering Mitigations</a:t>
            </a:r>
          </a:p>
          <a:p>
            <a:r>
              <a:t>• False Positives (Low-traffic valid routes) -&gt; Mitigated by user-controlled whitelists and dynamic bypass metrics.</a:t>
            </a:r>
          </a:p>
          <a:p>
            <a:r>
              <a:t>• Ingestion Bottle-necks (High-volume banking logs) -&gt; Mitigated by partitioned high-speed event buses.</a:t>
            </a:r>
          </a:p>
          <a:p>
            <a:r>
              <a:t>• Multiple API Protocol Formats -&gt; Protocol-agnostic schema parsers parsing REST, SOAP, and framework specifications.</a:t>
            </a:r>
          </a:p>
        </p:txBody>
      </p:sp>
      <p:grpSp>
        <p:nvGrpSpPr>
          <p:cNvPr id="201" name="Google Shape;201;p30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202" name="Google Shape;202;p30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3" name="Google Shape;203;p30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30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</p:sp>
      <p:sp>
        <p:nvSpPr>
          <p:cNvPr descr="A red blue and white logo  Description automatically generated" id="205" name="Google Shape;205;p30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" l="0" r="0" t="0"/>
            </a:stretch>
          </a:blipFill>
          <a:ln>
            <a:noFill/>
          </a:ln>
        </p:spPr>
      </p:sp>
      <p:sp>
        <p:nvSpPr>
          <p:cNvPr id="206" name="Google Shape;206;p30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30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30"/>
          <p:cNvSpPr txBox="1"/>
          <p:nvPr/>
        </p:nvSpPr>
        <p:spPr>
          <a:xfrm>
            <a:off x="2292901" y="987034"/>
            <a:ext cx="455819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FEASIBILITY &amp; VIABILITY</a:t>
            </a:r>
            <a:endParaRPr sz="700"/>
          </a:p>
        </p:txBody>
      </p:sp>
      <p:sp>
        <p:nvSpPr>
          <p:cNvPr id="209" name="Google Shape;209;p30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  <p:pic>
        <p:nvPicPr>
          <p:cNvPr id="210" name="Google Shape;210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4625" y="1600200"/>
            <a:ext cx="4407377" cy="19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/>
        </p:nvSpPr>
        <p:spPr>
          <a:xfrm>
            <a:off x="79625" y="1332600"/>
            <a:ext cx="4458300" cy="3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Measurable Security Impact (UBI Value)</a:t>
            </a:r>
            <a:endParaRPr sz="700"/>
          </a:p>
          <a:p>
            <a:r>
              <a:t>• 40% Attack Surface Reduction: Permanently neutralizes stale, forgotten, and unmonitored legacy API endpoints.</a:t>
            </a:r>
          </a:p>
          <a:p>
            <a:r>
              <a:t>• 99% Faster Breach Mitigation: Detects, scores, and blocks rogue routes in under 3 seconds instead of days.</a:t>
            </a:r>
          </a:p>
          <a:p>
            <a:r>
              <a:t>• PCI-DSS &amp; RBI Regulatory Compliance: Maintains cryptographically clean, fully auditable database logs of all gateway actions.</a:t>
            </a:r>
          </a:p>
          <a:p>
            <a:r>
              <a:t>• OWASP Hardening: Actively mitigates OWASP API9 (Asset Management), API3 (Excessive Data Exposure), and API7 (Security Misconfigurations).</a:t>
            </a:r>
          </a:p>
          <a:p/>
          <a:p>
            <a:r>
              <a:t>High-Value Target Sectors</a:t>
            </a:r>
          </a:p>
          <a:p>
            <a:r>
              <a:t>• PSD2 Open Banking: Secures public gateways and prevents payment endpoint spoofing or unauthorized queries.</a:t>
            </a:r>
          </a:p>
          <a:p>
            <a:r>
              <a:t>• Enterprise Finance: Proactively maps undocumented shadow routes across decentralized microservices.</a:t>
            </a:r>
          </a:p>
        </p:txBody>
      </p:sp>
      <p:grpSp>
        <p:nvGrpSpPr>
          <p:cNvPr id="216" name="Google Shape;216;p31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217" name="Google Shape;217;p31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8" name="Google Shape;218;p31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A red blue and white logo  Description automatically generated" id="219" name="Google Shape;219;p31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" l="0" r="0" t="0"/>
            </a:stretch>
          </a:blipFill>
          <a:ln>
            <a:noFill/>
          </a:ln>
        </p:spPr>
      </p:sp>
      <p:sp>
        <p:nvSpPr>
          <p:cNvPr id="220" name="Google Shape;220;p31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31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31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</p:sp>
      <p:sp>
        <p:nvSpPr>
          <p:cNvPr id="223" name="Google Shape;223;p31"/>
          <p:cNvSpPr txBox="1"/>
          <p:nvPr/>
        </p:nvSpPr>
        <p:spPr>
          <a:xfrm>
            <a:off x="2292901" y="987034"/>
            <a:ext cx="455819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IMPACT &amp; BENEFITS</a:t>
            </a:r>
            <a:endParaRPr sz="700"/>
          </a:p>
        </p:txBody>
      </p:sp>
      <p:sp>
        <p:nvSpPr>
          <p:cNvPr id="224" name="Google Shape;224;p31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  <p:pic>
        <p:nvPicPr>
          <p:cNvPr id="225" name="Google Shape;22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5775" y="1396600"/>
            <a:ext cx="4458226" cy="251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/>
        </p:nvSpPr>
        <p:spPr>
          <a:xfrm>
            <a:off x="57124" y="1396600"/>
            <a:ext cx="44805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Value Proposition &amp; Business Viability</a:t>
            </a:r>
            <a:endParaRPr sz="700"/>
          </a:p>
          <a:p>
            <a:r>
              <a:t>• Unmatched USP: The only platform combining BeautifulSoup discovery, vectorized NumPy CVSS scoring, and instant route-disabling middleware in a unified product.</a:t>
            </a:r>
          </a:p>
          <a:p>
            <a:r>
              <a:t>• Banking-Friendly Licensing: Secure on-premise licensing tailored for highly regulated banking sectors.</a:t>
            </a:r>
          </a:p>
          <a:p>
            <a:r>
              <a:t>• SaaS Subscription Model: Tiered cloud subscriptions ($499/mo Growth to custom enterprise volume licensing).</a:t>
            </a:r>
          </a:p>
          <a:p>
            <a:r>
              <a:t>• Target Market Demographics: Tier-1 banks, public portals, healthcare APIs, and enterprise SaaS.</a:t>
            </a:r>
          </a:p>
          <a:p>
            <a:r>
              <a:t>• High-Growth TAM: Targeting the $2.8 Billion API Security market growing at a robust 28% CAGR.</a:t>
            </a:r>
          </a:p>
        </p:txBody>
      </p:sp>
      <p:grpSp>
        <p:nvGrpSpPr>
          <p:cNvPr id="231" name="Google Shape;231;p32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232" name="Google Shape;232;p32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3" name="Google Shape;233;p32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32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</p:sp>
      <p:sp>
        <p:nvSpPr>
          <p:cNvPr descr="A red blue and white logo  Description automatically generated" id="235" name="Google Shape;235;p32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" l="0" r="0" t="0"/>
            </a:stretch>
          </a:blipFill>
          <a:ln>
            <a:noFill/>
          </a:ln>
        </p:spPr>
      </p:sp>
      <p:sp>
        <p:nvSpPr>
          <p:cNvPr id="236" name="Google Shape;236;p32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32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32"/>
          <p:cNvSpPr txBox="1"/>
          <p:nvPr/>
        </p:nvSpPr>
        <p:spPr>
          <a:xfrm>
            <a:off x="2292901" y="987034"/>
            <a:ext cx="455819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BUSINESS MODEL</a:t>
            </a:r>
            <a:endParaRPr sz="700"/>
          </a:p>
        </p:txBody>
      </p:sp>
      <p:sp>
        <p:nvSpPr>
          <p:cNvPr id="239" name="Google Shape;239;p32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  <p:pic>
        <p:nvPicPr>
          <p:cNvPr id="240" name="Google Shape;24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10" y="1714600"/>
            <a:ext cx="4480558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/>
        </p:nvSpPr>
        <p:spPr>
          <a:xfrm>
            <a:off x="514350" y="1572383"/>
            <a:ext cx="7964100" cy="25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Key References &amp; Academic Foundations</a:t>
            </a:r>
            <a:endParaRPr sz="700"/>
          </a:p>
          <a:p>
            <a:r>
              <a:t>• [1] OWASP API Security Top 10 (2023): API9 (Improper Assets Management) defines the core zombie API threat vector. Our system directly counters API3, API7, and API9.</a:t>
            </a:r>
          </a:p>
          <a:p>
            <a:r>
              <a:t>• [2] Salt Security State of API Security (2024): 94% of enterprises encountered major API security incidents; 78% carried forgotten zombie endpoints.</a:t>
            </a:r>
          </a:p>
          <a:p>
            <a:r>
              <a:t>• [3] Liu, Ting &amp; Zhou (2008): Unsupervised Anomaly Detection using Isolation Forest - the mathematical core of our detection engine.</a:t>
            </a:r>
          </a:p>
          <a:p>
            <a:r>
              <a:t>• [4] NIST SP 800-204 (Special Publication): Security Strategies for Microservices - guides our gateway design and credential rotation schemas.</a:t>
            </a:r>
          </a:p>
          <a:p>
            <a:r>
              <a:t>• [5] Gartner Enterprise Security Report: 'APIs remain the primary vector for cloud data breaches' - reinforcing the need for autonomous defense.</a:t>
            </a:r>
          </a:p>
          <a:p/>
          <a:p>
            <a:r>
              <a:t>Proof-of-Concept Public Assets</a:t>
            </a:r>
          </a:p>
          <a:p>
            <a:r>
              <a:t>• 2-Page Google Doc Problem + Solution Brief: [Anyone with Link Can View]</a:t>
            </a:r>
          </a:p>
          <a:p>
            <a:r>
              <a:t>• GitHub Main Public Codebase: Asterioxer/ZombieAPI_Discovery_Insiders</a:t>
            </a:r>
          </a:p>
        </p:txBody>
      </p:sp>
      <p:grpSp>
        <p:nvGrpSpPr>
          <p:cNvPr id="246" name="Google Shape;246;p33"/>
          <p:cNvGrpSpPr/>
          <p:nvPr/>
        </p:nvGrpSpPr>
        <p:grpSpPr>
          <a:xfrm>
            <a:off x="0" y="-72330"/>
            <a:ext cx="9144000" cy="920921"/>
            <a:chOff x="0" y="-38100"/>
            <a:chExt cx="4816593" cy="485094"/>
          </a:xfrm>
        </p:grpSpPr>
        <p:sp>
          <p:nvSpPr>
            <p:cNvPr id="247" name="Google Shape;247;p33"/>
            <p:cNvSpPr/>
            <p:nvPr/>
          </p:nvSpPr>
          <p:spPr>
            <a:xfrm>
              <a:off x="0" y="0"/>
              <a:ext cx="4816592" cy="446994"/>
            </a:xfrm>
            <a:custGeom>
              <a:rect b="b" l="l" r="r" t="t"/>
              <a:pathLst>
                <a:path extrusionOk="0" h="4469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8" name="Google Shape;248;p33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33"/>
          <p:cNvSpPr/>
          <p:nvPr/>
        </p:nvSpPr>
        <p:spPr>
          <a:xfrm>
            <a:off x="3331287" y="61303"/>
            <a:ext cx="1748827" cy="770060"/>
          </a:xfrm>
          <a:custGeom>
            <a:rect b="b" l="l" r="r" t="t"/>
            <a:pathLst>
              <a:path extrusionOk="0" h="1540119" w="3497653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6789" l="-26230" r="-26367" t="-89759"/>
            </a:stretch>
          </a:blipFill>
          <a:ln>
            <a:noFill/>
          </a:ln>
        </p:spPr>
      </p:sp>
      <p:sp>
        <p:nvSpPr>
          <p:cNvPr descr="A red blue and white logo  Description automatically generated" id="250" name="Google Shape;250;p33"/>
          <p:cNvSpPr/>
          <p:nvPr/>
        </p:nvSpPr>
        <p:spPr>
          <a:xfrm>
            <a:off x="5484926" y="294452"/>
            <a:ext cx="2511219" cy="374570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" l="0" r="0" t="0"/>
            </a:stretch>
          </a:blipFill>
          <a:ln>
            <a:noFill/>
          </a:ln>
        </p:spPr>
      </p:sp>
      <p:sp>
        <p:nvSpPr>
          <p:cNvPr id="251" name="Google Shape;251;p33"/>
          <p:cNvSpPr/>
          <p:nvPr/>
        </p:nvSpPr>
        <p:spPr>
          <a:xfrm>
            <a:off x="1581657" y="261849"/>
            <a:ext cx="1345259" cy="439796"/>
          </a:xfrm>
          <a:custGeom>
            <a:rect b="b" l="l" r="r" t="t"/>
            <a:pathLst>
              <a:path extrusionOk="0" h="879592" w="2690517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33"/>
          <p:cNvSpPr/>
          <p:nvPr/>
        </p:nvSpPr>
        <p:spPr>
          <a:xfrm>
            <a:off x="200740" y="140597"/>
            <a:ext cx="1222943" cy="611472"/>
          </a:xfrm>
          <a:custGeom>
            <a:rect b="b" l="l" r="r" t="t"/>
            <a:pathLst>
              <a:path extrusionOk="0" h="1222943" w="2445886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33"/>
          <p:cNvSpPr txBox="1"/>
          <p:nvPr/>
        </p:nvSpPr>
        <p:spPr>
          <a:xfrm>
            <a:off x="1966193" y="987034"/>
            <a:ext cx="521161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RESEARCH &amp; REFERENCES</a:t>
            </a:r>
            <a:endParaRPr sz="700"/>
          </a:p>
        </p:txBody>
      </p:sp>
      <p:sp>
        <p:nvSpPr>
          <p:cNvPr id="254" name="Google Shape;254;p33"/>
          <p:cNvSpPr/>
          <p:nvPr/>
        </p:nvSpPr>
        <p:spPr>
          <a:xfrm>
            <a:off x="8369603" y="235611"/>
            <a:ext cx="520095" cy="516458"/>
          </a:xfrm>
          <a:custGeom>
            <a:rect b="b" l="l" r="r" t="t"/>
            <a:pathLst>
              <a:path extrusionOk="0" h="1032916" w="1040189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4081" l="-13633" r="-13983" t="-14434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